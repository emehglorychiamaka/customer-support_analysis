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23" r:id="rId7"/>
    <p:sldId id="281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21" r:id="rId16"/>
    <p:sldId id="322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456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886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88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486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50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58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38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70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15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2032986"/>
            <a:ext cx="6392421" cy="2608462"/>
          </a:xfrm>
        </p:spPr>
        <p:txBody>
          <a:bodyPr anchor="ctr"/>
          <a:lstStyle/>
          <a:p>
            <a:r>
              <a:rPr lang="en-US" b="1" dirty="0"/>
              <a:t>CUSTOMER SUPPORT  ANALYSIS</a:t>
            </a:r>
            <a:br>
              <a:rPr lang="en-US" b="1" dirty="0"/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Presented By: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Emeh GlorY Chiamaka 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Mentor: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Mr. Joshua Ogbudu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Group: Advanced Data Analysis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 112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sz="3200" dirty="0"/>
              <a:t>Overview</a:t>
            </a:r>
          </a:p>
          <a:p>
            <a:r>
              <a:rPr lang="en-US" sz="3200" dirty="0"/>
              <a:t>Insights</a:t>
            </a:r>
          </a:p>
          <a:p>
            <a:r>
              <a:rPr lang="en-US" sz="3200" dirty="0"/>
              <a:t>Conclusion</a:t>
            </a:r>
          </a:p>
          <a:p>
            <a:r>
              <a:rPr lang="en-US" sz="3200" dirty="0"/>
              <a:t>Recommendation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0" y="148530"/>
            <a:ext cx="3932237" cy="584776"/>
          </a:xfr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b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What the Data is Telling Us</a:t>
            </a:r>
            <a:b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C09EE6-8007-42FA-B79F-1E2DDB347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427"/>
            <a:ext cx="75016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Overview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5BDCEB1-A6D3-49B6-B391-8093DF69553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68325" y="1100503"/>
            <a:ext cx="1103479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Over the period </a:t>
            </a:r>
            <a:r>
              <a:rPr kumimoji="0" lang="en-NG" altLang="en-NG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analy</a:t>
            </a:r>
            <a:r>
              <a:rPr kumimoji="0" lang="en-US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ed, the support team handled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5,000 customer cases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demonstrating strong operational capacity. </a:t>
            </a: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NG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However, only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54.8% of these cases were fully resolved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indicating that nearly half of customer issues remain unresolved.</a:t>
            </a: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While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60.58% of cases are resolved at first contact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suggesting good initial response effectiveness, a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19.8% escalation rate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highlights that a notable portion of issues still require additional intervention.</a:t>
            </a: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With an average handling time of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25.75 minutes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the team shows reasonable efficiency, but this is not yet translating into consistently successful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indicates </a:t>
            </a:r>
            <a:r>
              <a:rPr lang="en-US" altLang="en-NG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o</a:t>
            </a:r>
            <a:r>
              <a:rPr kumimoji="0" lang="en-NG" altLang="en-NG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ver</a:t>
            </a:r>
            <a:r>
              <a:rPr kumimoji="0" lang="en-US" altLang="en-NG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NG" altLang="en-NG" sz="20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support performance is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moderate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— the team is active and relatively efficient, but there is a clear opportunity to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improve resolution rates and reduce escalations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particularly by strengthening first contact resolution.</a:t>
            </a:r>
          </a:p>
        </p:txBody>
      </p:sp>
    </p:spTree>
    <p:extLst>
      <p:ext uri="{BB962C8B-B14F-4D97-AF65-F5344CB8AC3E}">
        <p14:creationId xmlns:p14="http://schemas.microsoft.com/office/powerpoint/2010/main" val="143151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93378"/>
            <a:ext cx="9875463" cy="756027"/>
          </a:xfrm>
        </p:spPr>
        <p:txBody>
          <a:bodyPr/>
          <a:lstStyle/>
          <a:p>
            <a:pPr algn="ctr"/>
            <a:r>
              <a:rPr lang="en-US" sz="3200" dirty="0"/>
              <a:t>Resolution Rate Trend</a:t>
            </a:r>
            <a:r>
              <a:rPr lang="en-US" sz="2400" dirty="0"/>
              <a:t>: </a:t>
            </a:r>
            <a:r>
              <a:rPr lang="en-US" sz="1800" dirty="0"/>
              <a:t>A Story of Instability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7B28A2-6C84-470A-973A-11B121FC4A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39846" y="2267888"/>
            <a:ext cx="592443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monthly resolution trend shows a strong start, with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100% resolution achieved in July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indicating optimal performance at the beginning of the period.</a:t>
            </a: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However, this was followed by a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complete breakdown in August, where resolution dropped to 0%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suggesting a significant operational disruption — cases were handled</a:t>
            </a:r>
            <a:r>
              <a:rPr kumimoji="0" lang="en-US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by newbies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but not successfully resolved.</a:t>
            </a: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Encouragingly, performance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recovered fully by November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returning to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100% resolution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which demonstrates the team’s ability to bounce back after setbacks.</a:t>
            </a: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Despite this recovery, the most recent data shows resolution at approximately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55% in January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indicating that performance has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not yet stabilized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7164281" y="2267889"/>
            <a:ext cx="4678531" cy="3902092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93379"/>
            <a:ext cx="9875463" cy="611728"/>
          </a:xfrm>
        </p:spPr>
        <p:txBody>
          <a:bodyPr/>
          <a:lstStyle/>
          <a:p>
            <a:pPr algn="ctr"/>
            <a:r>
              <a:rPr lang="en-US" sz="2800" dirty="0"/>
              <a:t>Resolution Outcome </a:t>
            </a:r>
            <a:r>
              <a:rPr lang="en-US" sz="2000" dirty="0"/>
              <a:t>— </a:t>
            </a:r>
            <a:r>
              <a:rPr lang="en-US" sz="1600" dirty="0"/>
              <a:t>Are We Truly Solving Problems?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7164281" y="2400257"/>
            <a:ext cx="4678531" cy="363735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30BA159-E25D-4C1C-8171-E342E49BA73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39838" y="1775493"/>
            <a:ext cx="551757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Out of the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5,000 </a:t>
            </a:r>
            <a:r>
              <a:rPr kumimoji="0" lang="en-NG" altLang="en-NG" sz="20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customer cases handled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a total of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2,740 </a:t>
            </a:r>
            <a:r>
              <a:rPr kumimoji="0" lang="en-NG" altLang="en-NG" sz="20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cases were successfully resolved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2,260 </a:t>
            </a:r>
            <a:r>
              <a:rPr kumimoji="0" lang="en-NG" altLang="en-NG" sz="20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cases remained unresolved.</a:t>
            </a:r>
            <a:endParaRPr kumimoji="0" lang="en-US" altLang="en-NG" sz="200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means that </a:t>
            </a: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nearly half of all customer issues are not being fully addressed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despite the effort put into handling them.</a:t>
            </a: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NG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This reveals a critical gap between effort and outcome —</a:t>
            </a:r>
            <a:br>
              <a:rPr lang="en-US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 significant portion of customers are leaving without a solution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, which can negatively impact satisfaction, trust, and overall customer experience.</a:t>
            </a:r>
            <a:endParaRPr lang="en-US" altLang="en-NG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0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93379"/>
            <a:ext cx="9875463" cy="611728"/>
          </a:xfrm>
        </p:spPr>
        <p:txBody>
          <a:bodyPr/>
          <a:lstStyle/>
          <a:p>
            <a:pPr algn="ctr"/>
            <a:r>
              <a:rPr lang="en-US" sz="3200" dirty="0"/>
              <a:t>Vendor Performance </a:t>
            </a:r>
            <a:r>
              <a:rPr lang="en-US" sz="1000" dirty="0"/>
              <a:t>— </a:t>
            </a:r>
            <a:r>
              <a:rPr lang="en-US" sz="1600" dirty="0"/>
              <a:t>Uneven Service Quality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6906827" y="2379215"/>
            <a:ext cx="4935986" cy="3876527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BA6CD92-FB63-4D28-B2D4-BE736475865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39838" y="1329218"/>
            <a:ext cx="558158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Analysing resolution rates across vendors reveals noticeable differences in performance.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top-performing vendor, Outsourcing CBA, </a:t>
            </a:r>
            <a:r>
              <a:rPr kumimoji="0" lang="en-NG" altLang="en-NG" sz="18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achieves approximately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62% resolution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Outsourcing SAR at 58.8%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lang="en-US" altLang="en-N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on-outsourced support records the lowest performance at around 52%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variation indicates that while some vendors are delivering relatively better outcomes, others are lagging behind.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NG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suggests a lack of standardization in how customer issues are handled and resolved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/>
              <a:t>To improve overall support effectiveness, there is a need to </a:t>
            </a:r>
            <a:r>
              <a:rPr lang="en-US" b="1" dirty="0"/>
              <a:t>review underperforming vendors, share best practices from top performers, and implement targeted training to ensure more consistent service delivery</a:t>
            </a:r>
            <a:r>
              <a:rPr lang="en-US" dirty="0"/>
              <a:t>.</a:t>
            </a: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74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735422"/>
            <a:ext cx="9875463" cy="611728"/>
          </a:xfrm>
        </p:spPr>
        <p:txBody>
          <a:bodyPr/>
          <a:lstStyle/>
          <a:p>
            <a:pPr algn="ctr"/>
            <a:r>
              <a:rPr lang="en-US" sz="3200" dirty="0"/>
              <a:t>Resolution by Support Type </a:t>
            </a:r>
            <a:r>
              <a:rPr lang="en-US" sz="1600" dirty="0"/>
              <a:t>— Performance Gaps Across Channels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6587231" y="2210540"/>
            <a:ext cx="5171243" cy="3912038"/>
          </a:xfrm>
        </p:spPr>
      </p:pic>
      <p:sp>
        <p:nvSpPr>
          <p:cNvPr id="13" name="Rectangle 10">
            <a:extLst>
              <a:ext uri="{FF2B5EF4-FFF2-40B4-BE49-F238E27FC236}">
                <a16:creationId xmlns:a16="http://schemas.microsoft.com/office/drawing/2014/main" id="{4048DBDF-3733-45D5-8DC6-AEAD2E9DEFA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43936" y="1631362"/>
            <a:ext cx="510466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comparing resolution rates by experience level, the difference is almost negligible.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New employees achieve a resolution rate of 50.4%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while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experienced staff follow closely at 49.6%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indicates that both groups are performing at nearly the same level.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minimal gap suggests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 is not significantly influencing performance outcomes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Implication: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Training programs are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highly effective for new hires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expertise of experienced staff is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 being fully utilized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9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50416"/>
            <a:ext cx="9875463" cy="796734"/>
          </a:xfrm>
        </p:spPr>
        <p:txBody>
          <a:bodyPr/>
          <a:lstStyle/>
          <a:p>
            <a:pPr algn="ctr"/>
            <a:r>
              <a:rPr lang="en-US" sz="3200" dirty="0"/>
              <a:t>Employee Experience </a:t>
            </a:r>
            <a:r>
              <a:rPr lang="en-US" sz="1600" dirty="0"/>
              <a:t>— Minimal Impact on Performance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6738150" y="2237173"/>
            <a:ext cx="5104663" cy="3885405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A238EA8-A8E9-44BD-863B-CE8262201F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8585" y="1774315"/>
            <a:ext cx="561956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Resolution performance varies significantly across support channels.</a:t>
            </a: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Consumer support leads with approximately 59.6% resolution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followed by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support at 54.5%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while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Social Media support drops to 50%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 notably, the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“Unknown” category records the lowest performance at just 38%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indicating a substantial gap in effectiveness.</a:t>
            </a: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NG" sz="1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 highlights clear inefficiencies across certain channels — particularly the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“Unknown” category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significantly underperforms, and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Media support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is less effective compared to other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Implication:</a:t>
            </a:r>
            <a:endParaRPr kumimoji="0" lang="en-US" altLang="en-NG" sz="1600" b="1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Poor performance in these channels suggests </a:t>
            </a: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issues with case classification, process clarity, or handling quality</a:t>
            </a:r>
            <a:r>
              <a:rPr kumimoji="0" lang="en-NG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which can negatively impact overall resolution rates</a:t>
            </a:r>
            <a:r>
              <a:rPr kumimoji="0" lang="en-US" altLang="en-NG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1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50416"/>
            <a:ext cx="9875463" cy="796734"/>
          </a:xfrm>
        </p:spPr>
        <p:txBody>
          <a:bodyPr/>
          <a:lstStyle/>
          <a:p>
            <a:pPr algn="ctr"/>
            <a:r>
              <a:rPr lang="en-US" sz="3200" dirty="0"/>
              <a:t>Location Performance </a:t>
            </a:r>
            <a:r>
              <a:rPr lang="en-US" sz="1600" dirty="0"/>
              <a:t>— Uneven Workload Distribution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6853561" y="2059618"/>
            <a:ext cx="4390497" cy="4332303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A238EA8-A8E9-44BD-863B-CE8262201F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8585" y="1651210"/>
            <a:ext cx="561956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Case volume varies significantly across locations.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Top-performing locations include: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Wise Assistant – 837 cases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Curitiba – 739 cases</a:t>
            </a:r>
            <a:endParaRPr kumimoji="0" lang="en-US" altLang="en-NG" sz="1600" b="1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Sofia – 736 cases </a:t>
            </a:r>
            <a:endParaRPr kumimoji="0" lang="en-US" altLang="en-NG" sz="1600" b="1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NG" altLang="en-NG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Makati City – 555 cases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locations handle a disproportionately higher share of total cases.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Workload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not evenly distributed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with certain offices carrying a much heavier operational burden.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Business Implication: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Uneven distribution may lead to: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Agent burnout in high-volume locations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Underutilization of other offices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Some locations are doing significantly more work than others. This imbalance could affect performance, efficiency, and even employee well-being.</a:t>
            </a: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2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46" y="550416"/>
            <a:ext cx="9875463" cy="796734"/>
          </a:xfrm>
        </p:spPr>
        <p:txBody>
          <a:bodyPr/>
          <a:lstStyle/>
          <a:p>
            <a:pPr algn="ctr"/>
            <a:r>
              <a:rPr lang="en-US" sz="3200" dirty="0"/>
              <a:t>Escalation &amp; FCR </a:t>
            </a:r>
            <a:r>
              <a:rPr lang="en-US" sz="1600" dirty="0"/>
              <a:t>— Volume vs Complexity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5E6AB44-BA7B-4AC8-8B2E-4E666183C40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/>
          <a:stretch/>
        </p:blipFill>
        <p:spPr>
          <a:xfrm>
            <a:off x="6853561" y="2237173"/>
            <a:ext cx="4390497" cy="3932808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A238EA8-A8E9-44BD-863B-CE8262201F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8585" y="2051324"/>
            <a:ext cx="5619565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majority of cases are handled without escalation, indicating strong frontline support capacity.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escalated cases, while fewer, tend to be more complex and resource-intensive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NG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most issues are resolved at the first level,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escalations represent high-complexity cases that require deeper expertise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need to: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 strong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first-level resolution capability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specialized handling for escalated cases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1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SO WHAT’S REALLY GOING ON? </a:t>
            </a:r>
            <a:r>
              <a:rPr lang="en-US" sz="2400" dirty="0"/>
              <a:t>Key Insights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Resolution rate is </a:t>
            </a:r>
            <a:r>
              <a:rPr lang="en-US" sz="2800" b="1" dirty="0"/>
              <a:t>too low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August shows </a:t>
            </a:r>
            <a:r>
              <a:rPr lang="en-US" sz="2800" b="1" dirty="0"/>
              <a:t>process failure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FCR is the </a:t>
            </a:r>
            <a:r>
              <a:rPr lang="en-US" sz="2800" b="1" dirty="0"/>
              <a:t>biggest efficiency driver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Performance varies across </a:t>
            </a:r>
            <a:r>
              <a:rPr lang="en-US" sz="2800" b="1" dirty="0"/>
              <a:t>vendors &amp; channels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Time is improving, but </a:t>
            </a:r>
            <a:r>
              <a:rPr lang="en-US" sz="2800" b="1" dirty="0"/>
              <a:t>outcomes are not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8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WHAT SHOULD WE DO?</a:t>
            </a:r>
            <a:r>
              <a:rPr lang="en-US" sz="1050" dirty="0"/>
              <a:t> </a:t>
            </a:r>
            <a:r>
              <a:rPr lang="en-US" sz="2000" dirty="0"/>
              <a:t>Action Plan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Improve First Contact Resolution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Better training, scripts, knowledge base</a:t>
            </a:r>
          </a:p>
          <a:p>
            <a:r>
              <a:rPr lang="en-NG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Investigate August issue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 Identify root cause (staffing/system/process)</a:t>
            </a:r>
          </a:p>
          <a:p>
            <a:r>
              <a:rPr lang="en-NG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Standardize vendor performance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 Benchmark top performers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>
            <a:normAutofit/>
          </a:bodyPr>
          <a:lstStyle/>
          <a:p>
            <a:r>
              <a:rPr lang="en-NG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Fix data quality (“Unknown”)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 Improve categorization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Focus on unresolved cases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 Introduce follow-up tracking.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FINAL MESSAGE - </a:t>
            </a:r>
            <a:r>
              <a:rPr lang="en-US" sz="2000" dirty="0"/>
              <a:t>Final Thought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BC540-CFD3-4924-A2C0-A94CDB1ECC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are getting faster — In summary, the team is becoming more efficient in handling cases, but not more effective / better at solving problems.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Improving resolution, especially at first contact, is the biggest opportunity to boost both operational efficiency and customer satisfaction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050742"/>
            <a:ext cx="5715000" cy="1526749"/>
          </a:xfrm>
        </p:spPr>
        <p:txBody>
          <a:bodyPr/>
          <a:lstStyle/>
          <a:p>
            <a:r>
              <a:rPr lang="en-US" sz="4800" dirty="0"/>
              <a:t>Thank </a:t>
            </a:r>
            <a:br>
              <a:rPr lang="en-US" sz="4800" dirty="0"/>
            </a:br>
            <a:r>
              <a:rPr lang="en-US" sz="48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Emeh Glory Chiamaka</a:t>
            </a:r>
          </a:p>
          <a:p>
            <a:r>
              <a:rPr lang="en-US" dirty="0"/>
              <a:t>+2348063688426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{05380847-B6F3-4F47-AFB6-588CDE3E8174}TF8a9b5915-b8c7-461e-8cdd-693d48b5e32371f7b7e2_win32-4bf0b9a2ea37</Template>
  <TotalTime>261</TotalTime>
  <Words>1076</Words>
  <Application>Microsoft Office PowerPoint</Application>
  <PresentationFormat>Widescreen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Sabon Next LT</vt:lpstr>
      <vt:lpstr>Custom</vt:lpstr>
      <vt:lpstr>CUSTOMER SUPPORT  ANALYSIS Presented By: Emeh GlorY Chiamaka  Mentor: Mr. Joshua Ogbudu Group: Advanced Data Analysis 112 </vt:lpstr>
      <vt:lpstr>agenda</vt:lpstr>
      <vt:lpstr> What the Data is Telling Us </vt:lpstr>
      <vt:lpstr>Resolution Rate Trend: A Story of Instability</vt:lpstr>
      <vt:lpstr>Resolution Outcome — Are We Truly Solving Problems?</vt:lpstr>
      <vt:lpstr>Vendor Performance — Uneven Service Quality</vt:lpstr>
      <vt:lpstr>Resolution by Support Type — Performance Gaps Across Channels</vt:lpstr>
      <vt:lpstr>Employee Experience — Minimal Impact on Performance</vt:lpstr>
      <vt:lpstr>Location Performance — Uneven Workload Distribution</vt:lpstr>
      <vt:lpstr>Escalation &amp; FCR — Volume vs Complexity</vt:lpstr>
      <vt:lpstr>SO WHAT’S REALLY GOING ON? Key Insights</vt:lpstr>
      <vt:lpstr>WHAT SHOULD WE DO? Action Plan</vt:lpstr>
      <vt:lpstr>FINAL MESSAGE - Final Thought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 ANALYSIS Presented By: Emeh GlorY Chiamaka  Mentor: Mr. Joshua Ogbudu Group: Advanced Data Analysis 112</dc:title>
  <dc:subject/>
  <dc:creator>Glory Chiamaka Emeh</dc:creator>
  <cp:lastModifiedBy>Glory Chiamaka Emeh</cp:lastModifiedBy>
  <cp:revision>27</cp:revision>
  <dcterms:created xsi:type="dcterms:W3CDTF">2026-04-13T10:33:15Z</dcterms:created>
  <dcterms:modified xsi:type="dcterms:W3CDTF">2026-04-19T16:47:50Z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